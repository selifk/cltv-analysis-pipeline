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85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60" r:id="rId29"/>
    <p:sldId id="261" r:id="rId30"/>
    <p:sldId id="284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19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D6C1E-AE03-157B-F98D-5F5401AF6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E312C-7E55-937B-F9C0-01F5832E9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95685-EB02-7797-E227-9D6B339F2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574DE-D1CB-BC8E-69DA-BE0A34ABF5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44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822960" y="-822960"/>
            <a:ext cx="2926080" cy="2926080"/>
          </a:xfrm>
          <a:prstGeom prst="ellipse">
            <a:avLst/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3474720"/>
            <a:ext cx="3200400" cy="3200400"/>
          </a:xfrm>
          <a:prstGeom prst="ellipse">
            <a:avLst/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-50292" y="703736"/>
            <a:ext cx="21534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Perakende Veri Analizi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251460" y="1410110"/>
            <a:ext cx="2834640" cy="2834640"/>
          </a:xfrm>
          <a:prstGeom prst="ellipse">
            <a:avLst/>
          </a:prstGeom>
          <a:solidFill>
            <a:srgbClr val="FFFFFF">
              <a:alpha val="12000"/>
            </a:srgbClr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2834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0" dirty="0"/>
          </a:p>
        </p:txBody>
      </p:sp>
      <p:sp>
        <p:nvSpPr>
          <p:cNvPr id="9" name="Text 7"/>
          <p:cNvSpPr/>
          <p:nvPr/>
        </p:nvSpPr>
        <p:spPr>
          <a:xfrm>
            <a:off x="4343400" y="29260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Yıldız Teknik Üniversitesi  ·  Fen-Edebiyat Fakültesi  ·  İstatistik Bölümü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70248" y="763524"/>
            <a:ext cx="4572000" cy="11064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</a:t>
            </a: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Yaşam</a:t>
            </a:r>
            <a:r>
              <a:rPr lang="tr-TR" sz="3600" dirty="0"/>
              <a:t> </a:t>
            </a:r>
            <a:r>
              <a:rPr lang="en-US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Boyu</a:t>
            </a:r>
            <a:r>
              <a:rPr lang="tr-TR" sz="3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Değeri</a:t>
            </a:r>
            <a:r>
              <a:rPr lang="tr-TR" sz="3600" dirty="0"/>
              <a:t> </a:t>
            </a:r>
            <a:r>
              <a:rPr lang="en-US" sz="3600" b="1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Tahmini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366260" y="2116132"/>
            <a:ext cx="3200400" cy="6400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66260" y="2135827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+ Gamma-Gamma Modeli ile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 Perakende Veri Seti Analizi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6532" y="2819517"/>
            <a:ext cx="1463040" cy="40233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56532" y="2825144"/>
            <a:ext cx="54864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57116" y="284343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57116" y="3026312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Tahminsel Model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829300" y="2825144"/>
            <a:ext cx="1463040" cy="40233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29300" y="2825144"/>
            <a:ext cx="54864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29884" y="284343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Gamma-Gamma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29884" y="3026312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Değeri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402068" y="2825144"/>
            <a:ext cx="1463040" cy="40233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02068" y="2825144"/>
            <a:ext cx="54864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02652" y="284343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02652" y="3026312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56532" y="3300632"/>
            <a:ext cx="1463040" cy="40233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56532" y="3300632"/>
            <a:ext cx="54864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57116" y="3318920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357116" y="350180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Aralığı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829300" y="3300632"/>
            <a:ext cx="1463040" cy="40233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829300" y="3300632"/>
            <a:ext cx="54864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29884" y="3318920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29884" y="3501800"/>
            <a:ext cx="129844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İskonto Analizi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0" y="4764024"/>
            <a:ext cx="9144000" cy="37033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809744"/>
            <a:ext cx="8412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Dersi Veren: Ali Hakan Büyüklü   ·   Veri Madenciliğine Giriş (2025–2026)   ·   Kaynak: Kaggle - FLO Customer Dataset (~19.945 Müşteri)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26743D6-5975-56E6-0F1F-4D755D3CA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1433322"/>
            <a:ext cx="2747772" cy="2747772"/>
          </a:xfrm>
          <a:prstGeom prst="ellipse">
            <a:avLst/>
          </a:prstGeom>
        </p:spPr>
      </p:pic>
      <p:sp>
        <p:nvSpPr>
          <p:cNvPr id="38" name="Text 10">
            <a:extLst>
              <a:ext uri="{FF2B5EF4-FFF2-40B4-BE49-F238E27FC236}">
                <a16:creationId xmlns:a16="http://schemas.microsoft.com/office/drawing/2014/main" id="{D5A4DAE8-4F5B-93D4-FD5D-69F205B4EA00}"/>
              </a:ext>
            </a:extLst>
          </p:cNvPr>
          <p:cNvSpPr/>
          <p:nvPr/>
        </p:nvSpPr>
        <p:spPr>
          <a:xfrm>
            <a:off x="4896512" y="3730048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br>
              <a:rPr lang="tr-TR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tr-TR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23023635 – Sümeyye Elif Koç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İçindekiler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75488" cy="89611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960120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9875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&amp; Motivasyon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38074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tanıtımı, önem, amaç, kapsam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75488" cy="89611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960120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21808" y="98755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 Özeti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21808" y="138074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makaleler ve önceki çalışmalar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84248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1984248"/>
            <a:ext cx="475488" cy="8961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1984248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6968" y="20116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Teorik Arka Plan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24048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BG/NBD, Gamma-Gamma, RFM kavramları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984248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984248"/>
            <a:ext cx="475488" cy="89611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1984248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21808" y="20116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&amp; Ön İşleme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2404872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 verisi, değişkenler, temizlik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008376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3008376"/>
            <a:ext cx="475488" cy="896112"/>
          </a:xfrm>
          <a:prstGeom prst="rect">
            <a:avLst/>
          </a:prstGeom>
          <a:solidFill>
            <a:srgbClr val="006E6E"/>
          </a:solidFill>
          <a:ln w="12700">
            <a:solidFill>
              <a:srgbClr val="00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008376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86968" y="303580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 &amp; Uygulama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6968" y="3429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kod, hiperparametreler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008376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008376"/>
            <a:ext cx="475488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008376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5321808" y="3035808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3429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Segmentasyon, Gini, Bootstrap, K-Means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91740" y="4032504"/>
            <a:ext cx="416052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491740" y="4032504"/>
            <a:ext cx="475488" cy="89611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491740" y="4032504"/>
            <a:ext cx="4754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058668" y="4059936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&amp; Değerlendirme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058668" y="4443984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Özet, öğrenilenler, öneriler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749040" y="16459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&amp; Motivasyon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749040" y="2487168"/>
            <a:ext cx="5212080" cy="457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49040" y="2606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 Tanıtımı · Önem · Amaç · Kapsam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Konu Tanıtımı &amp; Neden Önemli?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519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25196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Nedir?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9776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Yaşam Boyu Değeri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(Customer Lifetime Value - CLTV), bir müşterinin işletme ile ilişkisi boyunca sağlayacağı tahmini toplam ekonomik değerdir.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çalışmada: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modeli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gelecekteki satın alım sayısı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Gamma-Gamma modeli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beklenen ortalama işlem değeri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BG/NBD × Gamma-Gamma (6 ay, %1/ay iskonto)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Ödevin Amacı: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 müşteri verisinden hareketle 6 aylık CLTV tahmin etmek; müşterileri değer segmentlerine ayırmak; model belirsizliğini bootstrap ve duyarlılık analizi ile nicelendirmek.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64008" cy="80467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56048" y="98755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₺ Değer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56048" y="13898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müşterinin tahmini gelecek değeri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00600" y="1901952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00600" y="1901952"/>
            <a:ext cx="64008" cy="80467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56048" y="19293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56048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(Çok Yüksek) → D (Düşük) değer sınıfı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2843784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843784"/>
            <a:ext cx="64008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56048" y="28712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56048" y="3273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ufku; aylık %1 iskonto oranı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3785616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3785616"/>
            <a:ext cx="64008" cy="80467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56048" y="381304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56048" y="42153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iterasyon ile güven aralığı tahmini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4736592"/>
            <a:ext cx="4023360" cy="320040"/>
          </a:xfrm>
          <a:prstGeom prst="rect">
            <a:avLst/>
          </a:prstGeom>
          <a:solidFill>
            <a:srgbClr val="F47920">
              <a:alpha val="12000"/>
            </a:srgbClr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4754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Kapsam dışı: Churn tahmini (agregat veri kısıtı), holdout doğrulama, demografik segmentasyon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88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749040" y="16459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Teorik Arka Plan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749040" y="2487168"/>
            <a:ext cx="5212080" cy="457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49040" y="2606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Madenciliği · BG/NBD · Gamma-Gamma · RFM · CLTV Formülü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Madenciliği Nedir? - Tanım &amp; Görev Türleri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83916" y="914400"/>
            <a:ext cx="4114800" cy="14173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2788" y="1133856"/>
            <a:ext cx="38404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Büyük veri kümelerinden istatistiksel, matematiksel ve makine öğrenmesi yöntemleriyle örüntü, ilişki ve bilgi çıkarma sürecidir. Ham veriden eyleme dönüştürülebilir içgörü üretmeyi hedefler.</a:t>
            </a:r>
            <a:endParaRPr lang="en-US" sz="1200" b="1" dirty="0"/>
          </a:p>
        </p:txBody>
      </p:sp>
      <p:sp>
        <p:nvSpPr>
          <p:cNvPr id="9" name="Shape 7"/>
          <p:cNvSpPr/>
          <p:nvPr/>
        </p:nvSpPr>
        <p:spPr>
          <a:xfrm>
            <a:off x="1083916" y="2441448"/>
            <a:ext cx="41148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83916" y="2441448"/>
            <a:ext cx="4114800" cy="38404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02788" y="2441448"/>
            <a:ext cx="3877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</a:t>
            </a:r>
            <a:r>
              <a:rPr lang="en-US" sz="11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Süreci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Bu Projede Uygulandı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21076" y="28986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İş Anlayışı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84116" y="28986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 müşterilerinin 6 aylık değerini tahmin et; A–D segmentlere ayır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21076" y="32186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Veri Anlayışı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84116" y="32186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dağılım, çarpıklık, kanal analizi (Şekil A1–A5)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21076" y="353872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Veri Hazırlama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84116" y="3538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Winsorization, tarih dönüşümü, RFM mühendisliği, filtreleme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21076" y="38587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Modelleme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84116" y="38587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+ Gamma-Gamma fit; K-Means karşılaştırma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21076" y="41788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Değerlendirme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84116" y="4178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RMSE/MAE (in-sample), Bootstrap CI, duyarlılık analizi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21076" y="44988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Dağıtım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84116" y="44988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profili, CSV/Excel çıktısı, 25 grafik, yönetici özeti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20044" y="914400"/>
            <a:ext cx="1993392" cy="190195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20044" y="914400"/>
            <a:ext cx="1993392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93196" y="9144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/ Tahmin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711484" y="141732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değer tahmini.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satın alım sayısını; Gamma-Gamma işlem değerini tahmin eder.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bu iki tahmininin çarpımıdır.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620044" y="2971800"/>
            <a:ext cx="1993392" cy="1901952"/>
          </a:xfrm>
          <a:prstGeom prst="rect">
            <a:avLst/>
          </a:prstGeom>
          <a:solidFill>
            <a:srgbClr val="FFFFFF"/>
          </a:solidFill>
          <a:ln w="25400">
            <a:solidFill>
              <a:srgbClr val="F479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620044" y="2971800"/>
            <a:ext cx="1993392" cy="43891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93196" y="2971800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711484" y="3474720"/>
            <a:ext cx="181051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Etiketsiz veri → doğal gruplar.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quantile segmentasyonu (A–D) ve K-Means (k=2) bu kategoridedir.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projede kullanılan VM teknikleri: Tahminsel Modelleme (BG/NBD + Gamma-Gamma) + Kümeleme (Quantile Segmentasyon + K-Means)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 Hangi V</a:t>
            </a:r>
            <a:r>
              <a:rPr lang="tr-T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tr-TR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adenciliği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Tekniklerini Kullanıyor?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548640"/>
          </a:xfrm>
          <a:prstGeom prst="rect">
            <a:avLst/>
          </a:prstGeom>
          <a:solidFill>
            <a:srgbClr val="F47920">
              <a:alpha val="8000"/>
            </a:srgbClr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 Sorusu: FLO'nun 19.945 müşterisinin her birinin gelecek 6 ayda işletmeye kazandıracağı tahmini değer nedir ve bu değere göre müşteriler nasıl gruplandırılabilir?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2788920" cy="3273552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627632"/>
            <a:ext cx="278892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" y="1664208"/>
            <a:ext cx="3840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166420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Tahminsel Modelleme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1956816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Modeli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" y="2359152"/>
            <a:ext cx="2560320" cy="256032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Non-contractual Probabilistik Model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056" y="2697480"/>
            <a:ext cx="54864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" y="26791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gelecekteki satın alım SAYISINI tahmin eder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056" y="3191256"/>
            <a:ext cx="54864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" y="317296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churn anını olasılıksal olarak modeller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8056" y="3685032"/>
            <a:ext cx="54864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366674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Fader, Hardie &amp; Lee (2005) - Marketing Science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8056" y="4178808"/>
            <a:ext cx="54864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6072" y="41605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penalizer_coef=0.001, penalizer hafıza etkisini azaltır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64408" y="1627632"/>
            <a:ext cx="2788920" cy="3273552"/>
          </a:xfrm>
          <a:prstGeom prst="rect">
            <a:avLst/>
          </a:prstGeom>
          <a:solidFill>
            <a:srgbClr val="FFFFFF"/>
          </a:solidFill>
          <a:ln w="25400">
            <a:solidFill>
              <a:srgbClr val="1A4A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64408" y="1627632"/>
            <a:ext cx="2788920" cy="65836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37560" y="1664208"/>
            <a:ext cx="3840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767328" y="166420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Tahminsel Modelleme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67328" y="1956816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Gamma-Gamma Modeli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74136" y="2359152"/>
            <a:ext cx="2560320" cy="256032"/>
          </a:xfrm>
          <a:prstGeom prst="rect">
            <a:avLst/>
          </a:prstGeom>
          <a:solidFill>
            <a:srgbClr val="1A4A7A">
              <a:alpha val="12000"/>
            </a:srgbClr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01568" y="237744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Parasal Değer Tahmini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92424" y="2697480"/>
            <a:ext cx="54864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20440" y="26791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ortalama işlem DEĞERİNİ tahmin eder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92424" y="3191256"/>
            <a:ext cx="54864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20440" y="317296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ile birlikte CLTV = Sayı × Değer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92424" y="3685032"/>
            <a:ext cx="54864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20440" y="366674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shrinkage ile az veri olan müşterileri düzeltir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92424" y="4178808"/>
            <a:ext cx="54864" cy="292608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20440" y="41605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⊥ monetary varsayımı Pearson ile doğrulandı (r=−0.10)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08776" y="1627632"/>
            <a:ext cx="2788920" cy="3273552"/>
          </a:xfrm>
          <a:prstGeom prst="rect">
            <a:avLst/>
          </a:prstGeom>
          <a:solidFill>
            <a:srgbClr val="FFFFFF"/>
          </a:solidFill>
          <a:ln w="25400">
            <a:solidFill>
              <a:srgbClr val="F479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08776" y="1627632"/>
            <a:ext cx="2788920" cy="65836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81928" y="1664208"/>
            <a:ext cx="3840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711696" y="1664208"/>
            <a:ext cx="22128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Kümeleme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11696" y="1956816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Quantile + K-Means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18504" y="2359152"/>
            <a:ext cx="2560320" cy="256032"/>
          </a:xfrm>
          <a:prstGeom prst="rect">
            <a:avLst/>
          </a:prstGeom>
          <a:solidFill>
            <a:srgbClr val="F47920">
              <a:alpha val="12000"/>
            </a:srgbClr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45936" y="2377440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Partition-Based Segmentasyon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36792" y="2697480"/>
            <a:ext cx="54864" cy="29260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64808" y="26791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değerlerine göre pd.qcut() ile 4 eşit grup (A–D)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36792" y="3191256"/>
            <a:ext cx="54864" cy="29260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64808" y="317296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(k=2) bağımsız doğrulama: silhouette=0.474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36792" y="3685032"/>
            <a:ext cx="54864" cy="29260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64808" y="3666744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ile normalize edilmiş 5 özellik kullanıldı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36792" y="4178808"/>
            <a:ext cx="54864" cy="29260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64808" y="416052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 heatmap'i: iki yöntem %85+ uyum gösterdi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20040" y="4956048"/>
            <a:ext cx="8503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Veri Yükleme → EDA → Ön İşleme → RFM Mühendisliği → BG/NBD → Gamma-Gamma → CLTV → Quantile Segmentasyon → K-Means Doğrulama → Bootstrap CI → Duyarlılık Analizi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Teorik Arka Plan - RFM Kavramları &amp; BG/NBD Modeli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7004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670048" cy="43891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- Recency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ile son alışveriş arasındaki süre (hafta). BG/NBD'de müşterinin ne kadar süredir aktif olduğunu yansıtır.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67004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70048" cy="43891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96012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- Frequency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Tekrar satın alım sayısı = total_order − 1. BG/NBD literatür tanımına uygun; ilk sipariş gözlem başlangıcı olarak kabul edilir.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960120"/>
            <a:ext cx="267004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89320" y="960120"/>
            <a:ext cx="2670048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96012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- Monetary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1463040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işlem değeri (TL). Gamma-Gamma modeli bu değişkeni tahmin eder; frequency &gt; 0 müşterilere uygulanır.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542032"/>
            <a:ext cx="8503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542032"/>
            <a:ext cx="8503920" cy="43891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5420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Beta-Geometric / Negative Binomial Distribution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1965960" cy="171907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15568" y="3090672"/>
            <a:ext cx="658368" cy="65836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15568" y="30906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0352" y="382219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Alım Şekli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413308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dağılımı şekil parametresi. Satın alım oranı heterojenliğini temsil eder.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78608" y="3063240"/>
            <a:ext cx="1965960" cy="171907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36976" y="3090672"/>
            <a:ext cx="658368" cy="65836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36976" y="30906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651760" y="382219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Alım Oranı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413308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ölçek parametresi. r/α = ort. satın alım hızı (alım/hafta).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0016" y="3063240"/>
            <a:ext cx="1965960" cy="171907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58384" y="3090672"/>
            <a:ext cx="658368" cy="65836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58384" y="30906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773168" y="382219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Katsayısı 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413308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dağılımı 1. parametresi. Çok düşük değer (≈0) agregat veri kısıtını işaret eder.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21424" y="3063240"/>
            <a:ext cx="1965960" cy="171907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79792" y="3090672"/>
            <a:ext cx="658368" cy="65836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479792" y="30906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94576" y="3822192"/>
            <a:ext cx="1810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Katsayısı II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94576" y="4133088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dağılımı 2. parametresi. a/(a+b) = ortalama churn olasılığı. Bu veri setinde ≈0.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Teorik Arka Plan - Gamma-Gamma &amp; CLTV Formülü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5212080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Gamma-Gamma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Fader &amp; Hardie (2013)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484632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satın alım sayısını tahmin ederken Gamma-Gamma beklenen ortalama işlem değerini tahmin eder. İkisi birleşerek CLTV'yi oluşturur.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</a:t>
            </a:r>
            <a:r>
              <a:rPr lang="en-US" sz="1050" b="1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Varsayım</a:t>
            </a: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frequency ⊥ monetary: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alım sıklığı ile ortalama harcama bağımsız olmalıdır.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−0.10  →  |r| &lt; 0.30 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(Şekil C1 ile doğrulandı)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Shrinkage: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işlem yapan müşterilerin tahmini nüfus ortalamasına çekilir. Bu özellik düşük gözlemli müşterilerde aşırı uç tahminleri önler.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Parametreler: p, q, v (Gamma dağılımı)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penalizer_coef = 0.001 (düzenlileştirme)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715000" y="960120"/>
            <a:ext cx="3108960" cy="39319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15000" y="1051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Formülü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852160" y="1463040"/>
            <a:ext cx="283464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15727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= E[X] × E[z | x, m_x]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06440" y="2103120"/>
            <a:ext cx="2834640" cy="5486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9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0" y="212140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14032" y="2121408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tekrar</a:t>
            </a:r>
            <a:endParaRPr lang="en-US" sz="85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alım sayısı</a:t>
            </a:r>
            <a:endParaRPr lang="en-US" sz="8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806440" y="2743200"/>
            <a:ext cx="2834640" cy="5486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00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52160" y="276148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Gamma-Gamma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14032" y="2761488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ortalama</a:t>
            </a:r>
            <a:endParaRPr lang="en-US" sz="85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işlem değeri (TL)</a:t>
            </a:r>
            <a:endParaRPr lang="en-US" sz="8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06440" y="3383280"/>
            <a:ext cx="2834640" cy="5486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B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52160" y="340156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B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time=6, freq=M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14032" y="3401568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aylık tahmin</a:t>
            </a:r>
            <a:endParaRPr lang="en-US" sz="85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 parametre</a:t>
            </a:r>
            <a:endParaRPr lang="en-US" sz="8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06440" y="4023360"/>
            <a:ext cx="2834640" cy="5486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48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0" y="4041648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8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discount=0.01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14032" y="4041648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%1 iskonto</a:t>
            </a:r>
            <a:endParaRPr lang="en-US" sz="85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8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~yıllık %12.7</a:t>
            </a:r>
            <a:endParaRPr lang="en-US" sz="85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60720" y="46817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Fader &amp; Hardie (2005, 2013)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88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749040" y="16459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&amp; Ön İşleme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749040" y="2487168"/>
            <a:ext cx="5212080" cy="457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49040" y="2606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 Verisi · Değişkenler · Temizlik · RFM Mühendisliği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Açıklaması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FLO Müşteri Verisi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8346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Kimliği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50876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98448" y="150876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 Müşteri Veri Seti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201168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298448" y="201168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(FLO Customer Dataset)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51460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98448" y="251460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~19.945 müşteri (benzersiz)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301752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98448" y="301752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değişken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352044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98448" y="352044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Agregat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her satır = 1 müşteri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4023360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Aralığı: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298448" y="4023360"/>
            <a:ext cx="17190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dönem (ilk - son sipariş)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96012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91840" y="960120"/>
            <a:ext cx="3611880" cy="4572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9601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Değişkenler &amp; Türleri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37560" y="1481328"/>
            <a:ext cx="3493008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0" y="14904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master_id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64608" y="149047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21808" y="149047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Benzersiz müşteri kimliği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37560" y="1801368"/>
            <a:ext cx="3493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83280" y="18105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order_channel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64608" y="181051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21808" y="181051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Sipariş kanalı (app, web, offline)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37560" y="2121408"/>
            <a:ext cx="3493008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83280" y="2130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first/last_order_date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64608" y="213055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321808" y="213055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ve son sipariş tarihleri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337560" y="2441448"/>
            <a:ext cx="3493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83280" y="2450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order_num_total_online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64608" y="245059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21808" y="245059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online sipariş sayısı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37560" y="2761488"/>
            <a:ext cx="3493008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83280" y="27706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order_num_total_offline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64608" y="277063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21808" y="277063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offline sipariş sayısı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37560" y="3081528"/>
            <a:ext cx="3493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383280" y="30906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cust_value_online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64608" y="309067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21808" y="309067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toplam harcama (TL)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337560" y="3401568"/>
            <a:ext cx="3493008" cy="301752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383280" y="34107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cust_value_offline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64608" y="341071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21808" y="341071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toplam harcama (TL)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337560" y="3721608"/>
            <a:ext cx="3493008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383280" y="37307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interested_categories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64608" y="3730752"/>
            <a:ext cx="438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321808" y="3730752"/>
            <a:ext cx="1444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İlgilendiği 12 aylık kategoriler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040880" y="960120"/>
            <a:ext cx="1783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040880" y="960120"/>
            <a:ext cx="1783080" cy="4572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086600" y="960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 İşleme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114032" y="1508760"/>
            <a:ext cx="292608" cy="29260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114032" y="1508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7452360" y="1490472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 dönüşümü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114032" y="2148840"/>
            <a:ext cx="292608" cy="29260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114032" y="21488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452360" y="2130552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Winsorization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 %99 (parasal)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114032" y="2788920"/>
            <a:ext cx="292608" cy="29260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114032" y="2788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452360" y="2770632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değişkenleri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hesaplandı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114032" y="3429000"/>
            <a:ext cx="292608" cy="29260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114032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452360" y="3410712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Geçersiz gözlem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filtrelendi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7114032" y="4069080"/>
            <a:ext cx="292608" cy="29260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7114032" y="4069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452360" y="4050792"/>
            <a:ext cx="1298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 ölçek</a:t>
            </a:r>
            <a:endParaRPr lang="en-US" sz="8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[0,1] normalize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- Satın Alım Sıklığı &amp; Harcama Dağılımı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· Şekil A1 &amp; A2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343400" cy="263347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14400"/>
            <a:ext cx="4160520" cy="2633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657600"/>
            <a:ext cx="4343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84048" y="3730752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A1 - Müşteri Satın Alım Sıklığı
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Medyan 3, Ortalama 4 sipariş. Müşterilerin %45.6'sı yalnızca 1-2 sipariş vermiş. Sağa çarpık dağılım BG/NBD için tipik bir yapıdır; tek alışveriş yapan müşteriler modele dahil edilir (recency=0, frequency=0).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754880" y="3657600"/>
            <a:ext cx="41605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864608" y="373075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A2 - Müşteri Başına Ortalama Harcama
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Medyan 136 TL, Ortalama 151 TL. Segment A'da 197 TL, Segment D'de 91 TL ortalama harcama. Sağa çarpık yapı nedeniyle parasal değişkenlere üst %99 Winsorization uygulandı.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- Müşteri Yaşı, Recency &amp; Kanal Dağılımı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· Şekil A3, A4, A5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2834640" cy="18288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914400"/>
            <a:ext cx="2834640" cy="182880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914400"/>
            <a:ext cx="2743200" cy="18288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74320" y="2834640"/>
            <a:ext cx="283464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365760" y="288950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A3 - Müşteri Yaşı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365760" y="3218688"/>
            <a:ext cx="2651760" cy="2743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365760" y="32918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Müşterilerin %48.4'ü 1-2 yıllık. Yeni müşterilerin (0-1 yıl) ort. CLTV 49 TL ile en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kısa vadeli aktivite yoğunluğunu yansıtır.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3246120" y="2834640"/>
            <a:ext cx="283464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3337560" y="288950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A4 - Recency (İlk-Son Sipariş)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337560" y="3218688"/>
            <a:ext cx="2651760" cy="2743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3337560" y="32918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Ort. 1.8 yıl, medyan 1.5 yıl. Sağa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çarpık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çoğu müşteri son 2 yıl içinde aktif. Uzun recency, BG/NBD'nin gelecek alım tahminini düşürür.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172200" y="2834640"/>
            <a:ext cx="274320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6263640" y="2889504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A5 - Sipariş Kanalı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3218688"/>
            <a:ext cx="2560320" cy="27432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263640" y="3291840"/>
            <a:ext cx="2560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siparişte Android App baskın (%47.6). Son siparişte Offline %33.1'e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ulaşmış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kanal geçiş davranışı pazarlama stratejisi için kritik.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3A02F-F86A-0D3B-020A-FE28A8DB9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EB4080-029D-657E-E2D2-34C1AA28C3E5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3C2D23-D847-E530-4A21-49F72BC60E45}"/>
              </a:ext>
            </a:extLst>
          </p:cNvPr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3C29289-48AB-5877-DEE6-AC4910D46E94}"/>
              </a:ext>
            </a:extLst>
          </p:cNvPr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- Müşteri Yaşı, Recency &amp; Kanal Dağılımı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8D19061-A103-EAC5-D47D-A433FCFBE36E}"/>
              </a:ext>
            </a:extLst>
          </p:cNvPr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04 · Şekil A3, A4, A5</a:t>
            </a:r>
            <a:endParaRPr lang="en-US" sz="9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1E79B85B-7B63-CF85-5097-6F5F17FDC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6673"/>
            <a:ext cx="4499025" cy="2635934"/>
          </a:xfrm>
          <a:prstGeom prst="rect">
            <a:avLst/>
          </a:prstGeom>
        </p:spPr>
      </p:pic>
      <p:sp>
        <p:nvSpPr>
          <p:cNvPr id="17" name="Shape 12">
            <a:extLst>
              <a:ext uri="{FF2B5EF4-FFF2-40B4-BE49-F238E27FC236}">
                <a16:creationId xmlns:a16="http://schemas.microsoft.com/office/drawing/2014/main" id="{AD2B45A0-F5DA-CCCE-8F54-6F35BBDAF6FE}"/>
              </a:ext>
            </a:extLst>
          </p:cNvPr>
          <p:cNvSpPr/>
          <p:nvPr/>
        </p:nvSpPr>
        <p:spPr>
          <a:xfrm>
            <a:off x="5064370" y="1516673"/>
            <a:ext cx="3291840" cy="263593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41D44FE4-DF14-9D64-ACE8-C74AC8E1A03F}"/>
              </a:ext>
            </a:extLst>
          </p:cNvPr>
          <p:cNvSpPr/>
          <p:nvPr/>
        </p:nvSpPr>
        <p:spPr>
          <a:xfrm>
            <a:off x="5172867" y="1768535"/>
            <a:ext cx="3072384" cy="376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A5 - Sipariş Kanalı</a:t>
            </a:r>
            <a:endParaRPr lang="en-US" sz="105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C2A9FB67-EF37-DA9C-E31C-1BABDCCE213A}"/>
              </a:ext>
            </a:extLst>
          </p:cNvPr>
          <p:cNvSpPr/>
          <p:nvPr/>
        </p:nvSpPr>
        <p:spPr>
          <a:xfrm>
            <a:off x="5172867" y="2112265"/>
            <a:ext cx="3072384" cy="5008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478BC3D0-AE87-4609-26C4-A61EBE887CA7}"/>
              </a:ext>
            </a:extLst>
          </p:cNvPr>
          <p:cNvSpPr/>
          <p:nvPr/>
        </p:nvSpPr>
        <p:spPr>
          <a:xfrm>
            <a:off x="5172867" y="2029882"/>
            <a:ext cx="3072384" cy="19935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siparişte Android App baskın (%47.6). Son siparişte Offline %33.1'e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ulaşmış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kanal geçiş davranışı pazarlama stratejisi için kritik.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9592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88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749040" y="16459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 &amp; Uygulama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749040" y="2487168"/>
            <a:ext cx="5212080" cy="457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49040" y="2606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Kod · Hiperparametreler · Model Kurulumu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Pipeline'ı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- 19 Adım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88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88920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1-4  -  Yükleme &amp; EDA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41732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okuma, tip dönüşüm, betimsel istatistik, çarpıklık testi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88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4408" y="960120"/>
            <a:ext cx="2788920" cy="402336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55848" y="96012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5-7  -  Ön İşleme &amp; RFM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55848" y="141732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Winsorization (parasal %99), tarih→hafta, frequency/recency/T/monetary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08776" y="960120"/>
            <a:ext cx="2788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88920" cy="402336"/>
          </a:xfrm>
          <a:prstGeom prst="rect">
            <a:avLst/>
          </a:prstGeom>
          <a:solidFill>
            <a:srgbClr val="006E6E"/>
          </a:solidFill>
          <a:ln w="12700">
            <a:solidFill>
              <a:srgbClr val="00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0216" y="96012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8  -  CLTV Çerçevesi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0216" y="141732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monetary&gt;0, T&gt;0, T≥recency filtresi; indeksli veri çerçevesi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286000"/>
            <a:ext cx="2788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2286000"/>
            <a:ext cx="2788920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28600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9  -  BG/NBD Kurulum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274320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BetaGeoFitter(penalizer=0.001), 3 &amp; 6 aylık satın alım tahmini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64408" y="2286000"/>
            <a:ext cx="2788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64408" y="2286000"/>
            <a:ext cx="2788920" cy="402336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55848" y="228600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10  -  Gamma-Gamma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55848" y="274320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GammaGammaFitter(penalizer=0.001), Pearson/Spearman bağımsızlık testi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08776" y="2286000"/>
            <a:ext cx="2788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08776" y="2286000"/>
            <a:ext cx="2788920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0216" y="228600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11-12  -  CLTV &amp; Segment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00216" y="274320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aylık CLTV (time=6, freq=M, discount=0.01), MinMax, qcut A-D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611880"/>
            <a:ext cx="2788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0040" y="3611880"/>
            <a:ext cx="2788920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61188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13-14  -  Özet &amp; Gini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406908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profil tablosu, RMSE/MAE (in-sample), Gini+desil analizi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64408" y="3611880"/>
            <a:ext cx="2788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64408" y="3611880"/>
            <a:ext cx="2788920" cy="40233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55848" y="361188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15-17  -  Gelişmiş Analiz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55848" y="406908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 500 iter., duyarlılık 4 senaryo, K-Means karşılaştırma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08776" y="3611880"/>
            <a:ext cx="2788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208776" y="3611880"/>
            <a:ext cx="2788920" cy="402336"/>
          </a:xfrm>
          <a:prstGeom prst="rect">
            <a:avLst/>
          </a:prstGeom>
          <a:solidFill>
            <a:srgbClr val="006E6E"/>
          </a:solidFill>
          <a:ln w="12700">
            <a:solidFill>
              <a:srgbClr val="00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300216" y="361188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 18-19  -  Görsel &amp; Çıktı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00216" y="4069080"/>
            <a:ext cx="26334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grafik (PNG), 8 CSV + 1 Excel (5 sekme), yönetici özeti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Kurulumu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Varsayım Kontrolü &amp; BG/NBD Doğrulama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· Şekil C1, C3, C4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251960" cy="23957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401568"/>
            <a:ext cx="425196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4048" y="3456432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C1 - Gamma-Gamma Bağımsızlık Varsayımı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4048" y="3794760"/>
            <a:ext cx="40416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−0.10, Spearman ρ = −0.04. Her iki katsayı da |0.30| eşiğinin altında → varsayım sağlanıyor. Gamma-Gamma modeli uygulanabilir.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914400"/>
            <a:ext cx="4206240" cy="239572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663440" y="3401568"/>
            <a:ext cx="42062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773168" y="345643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C3 &amp; C4 - BG/NBD Ayrımcılık &amp; Uyum Testi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73168" y="379476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Daha sık alışveriş yapan müşteriler için daha fazla satın alım tahmin ediliyor (0.65 → 1.67). Model doğru yönde ayrım yapıyor. C4: Gerçek vs tahmin dağılımı genel hatlarıyla uyumlu; düşük frekanslı müşterilerde hafif hafife tahmin.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Neden Hangisini Kullandık?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· Metodolojik Seçim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9264"/>
            <a:ext cx="8503920" cy="340438"/>
          </a:xfrm>
          <a:prstGeom prst="rect">
            <a:avLst/>
          </a:prstGeom>
          <a:solidFill>
            <a:srgbClr val="F47920">
              <a:alpha val="8000"/>
            </a:srgbClr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2108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tahmini bir regresyon / tahmin </a:t>
            </a:r>
            <a:r>
              <a:rPr lang="en-US" sz="1050" b="1" dirty="0" err="1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problemidir</a:t>
            </a:r>
            <a:r>
              <a:rPr lang="en-US" sz="105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sınıflandırma problemi değildir. Bu ayrım hangi metriklerin geçerli olduğunu belirler.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396921"/>
            <a:ext cx="4206240" cy="3559829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396922"/>
            <a:ext cx="42062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39692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Kullanılmayan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Neden?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1927274"/>
            <a:ext cx="39776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94556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(Doğruluk)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65376" y="194556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Sınıflandırma metriği. CLTV sürekli bir </a:t>
            </a:r>
            <a:r>
              <a:rPr lang="en-US" sz="8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sayıdır</a:t>
            </a: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'doğru/yanlış' sınıf yoktur. Uygulanamaz.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448482"/>
            <a:ext cx="39776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246677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&amp; Recall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65376" y="2466770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İkili veya çok sınıflı sınıflandırma için tanımlıdır. BG/NBD + Gamma-Gamma olasılıksal bir regresyon modelidir.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969690"/>
            <a:ext cx="39776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98797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65376" y="2987978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ve Recall'ın harmonik ortalaması. Sınıflandırma çıktısı olmadan hesaplanamaz.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11480" y="3490898"/>
            <a:ext cx="39776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509186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65376" y="3509186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sınıftaki örnek </a:t>
            </a:r>
            <a:r>
              <a:rPr lang="en-US" sz="8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sayısı</a:t>
            </a: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segment sayısı anlamlı ama sınıflandırma metriği olarak geçersiz.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" y="4012106"/>
            <a:ext cx="39776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4030394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65376" y="4030394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vs tahmin sınıf matrisi. CLTV kesintisiz değer üretir; sınıf etiketleri karşılaştırması yapılamaz.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17720" y="1399031"/>
            <a:ext cx="4206240" cy="3559829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1413803"/>
            <a:ext cx="42062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13990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Kullanılan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Metrikler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Neden?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1929384"/>
            <a:ext cx="39319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09160" y="1929384"/>
            <a:ext cx="658368" cy="68580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1929384"/>
            <a:ext cx="658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22392" y="1956816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Error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22392" y="2185416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Gamma-Gamma'nın tahmin ettiği ortalama işlem değeri ile gerçek değer arasındaki farkı ölçer. Büyük hataları daha fazla cezalandırır.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22392" y="2432304"/>
            <a:ext cx="3127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In-sample: Model kendi eğitim verisine uyumunu </a:t>
            </a:r>
            <a:r>
              <a:rPr lang="en-US" sz="750" i="1" dirty="0" err="1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ölçüyor</a:t>
            </a:r>
            <a:r>
              <a:rPr lang="en-US" sz="750" i="1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holdout yok.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09160" y="2688336"/>
            <a:ext cx="39319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09160" y="2688336"/>
            <a:ext cx="658368" cy="685800"/>
          </a:xfrm>
          <a:prstGeom prst="rect">
            <a:avLst/>
          </a:prstGeom>
          <a:solidFill>
            <a:srgbClr val="006E6E"/>
          </a:solidFill>
          <a:ln w="12700">
            <a:solidFill>
              <a:srgbClr val="00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09160" y="2688336"/>
            <a:ext cx="658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22392" y="2715768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22392" y="2944368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Mutlak sapmaların ortalaması. RMSE'ye göre aykırı değerlere daha az duyarlı. İkisi birlikte tutarlılık kontrolü sağlar.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22392" y="3191256"/>
            <a:ext cx="3127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0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In-sample: Gerçek tahmin başarımı olarak yorumlanamaz.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09160" y="3447288"/>
            <a:ext cx="39319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09160" y="3447288"/>
            <a:ext cx="658368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09160" y="3447288"/>
            <a:ext cx="658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22392" y="3474720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Konsantrasyon Katsayısı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22392" y="3703320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 dağılımının eşitsizliğini ölçer (0=eşit, 1=tek noktada). Bu proje için segment stratejisini meşrulaştıran temel metrik.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22392" y="3950208"/>
            <a:ext cx="3127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Dağıtım bazlı; holdout gerektirmez.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09160" y="4206240"/>
            <a:ext cx="393192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709160" y="4206240"/>
            <a:ext cx="658368" cy="6858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09160" y="4206240"/>
            <a:ext cx="65836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422392" y="4233672"/>
            <a:ext cx="31272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%95 Güven Aralığı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22392" y="4462272"/>
            <a:ext cx="3127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CLTV tahmininin istatistiksel belirsizliğini nicellendirir. 500 yeniden örnekleme ile güven aralığı hesaplanır.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22392" y="4709160"/>
            <a:ext cx="31272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Tahmin kararlılığını </a:t>
            </a:r>
            <a:r>
              <a:rPr lang="en-US" sz="750" i="1" dirty="0" err="1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ölçer</a:t>
            </a:r>
            <a:r>
              <a:rPr lang="en-US" sz="75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in-sample kısıtından bağımsız.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20040" y="4956048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Sınıflandırma metrikleri (Accuracy, F1, Recall) bu problem tipi için tanımsızdır. RMSE/MAE regresyon metrikleridir; in-sample oldukları şeffaflıkla raporlanmıştır.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Değerlendirmesi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05 · Sonuç Yorumu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420624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20624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Model Neyi Başardı?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228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5087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149047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Sıralaması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" y="17373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 → B → C → D CLTV ortalamaları doğru sıralandı: 64 → 34 → 23 → 13 TL. K-Means bağımsız olarak teyit etti (E4).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157984"/>
            <a:ext cx="228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15798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" y="2139696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Ayrımcılık Gücü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2386584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frekans gruplarına göre monoton artan tahminler üretiyor: 0.65 (1-2 sipariş) → 1.67 (10+ sipariş). Şekil C3 bu ayrımı görselleştiriyor.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807208"/>
            <a:ext cx="228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80720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" y="2788920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Dağılım Uyumu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" y="303580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gerçek sipariş dağılımına genel hatlarıyla uyuyor (Şekil C4). Dağılım şeklini doğru yakaladı.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456432"/>
            <a:ext cx="228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45643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" y="3438144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Tutarlılığı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368503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A'nın %47.4 gelir payı taşırken %25 müşteriye karşılık gelmesi iş anlamı güçlü bir segment çıktısı ürettiğini gösteriyor.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11480" y="4105656"/>
            <a:ext cx="228600" cy="2286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410565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" y="4087368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Kararlılığı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3232" y="433425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iterasyonluk bootstrap CI dar aralık verdi → ortalama CLTV tahmini istatistiksel olarak kararlı.</a:t>
            </a:r>
            <a:endParaRPr lang="en-US" sz="850" dirty="0"/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453FFD50-A412-B956-5D54-193D42DC4253}"/>
              </a:ext>
            </a:extLst>
          </p:cNvPr>
          <p:cNvSpPr/>
          <p:nvPr/>
        </p:nvSpPr>
        <p:spPr>
          <a:xfrm>
            <a:off x="4663440" y="1417320"/>
            <a:ext cx="41605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663440" y="960120"/>
            <a:ext cx="41605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96012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Model</a:t>
            </a: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Sınırlılıkları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73752" y="1641348"/>
            <a:ext cx="2286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73752" y="16413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66360" y="162306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Doğrulama Yok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18699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RMSE/MAE in-sample. Gerçek 6 aylık ileriye yönelik doğrulama periyodu olmadığından dışarıdan (out-of-sample) tahmin başarımı ölçülemedi.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73752" y="2290572"/>
            <a:ext cx="2286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73752" y="22905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22722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Frekanslı Hafife Tahmin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66360" y="25191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C4'te frequency=0 müşterilerde model gerçeği hafif aşıyor; düşük frekanslı gruplarda tahmin hafif düşük kalıyor.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73752" y="2939796"/>
            <a:ext cx="2286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73752" y="293979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66360" y="29215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İskonto Oranı Belirsizliği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6360" y="31683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 %1 standart literatür varsayımı. FLO'nun gerçek sermaye maliyeti </a:t>
            </a:r>
            <a:r>
              <a:rPr lang="en-US" sz="8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bilinmiyor</a:t>
            </a: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duyarlılık analizi bu riski görünür kıldı.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73752" y="3589020"/>
            <a:ext cx="228600" cy="228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73752" y="35890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66360" y="35707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k=2 Sınırlılığı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66360" y="38176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k=2 önerdi ancak iş stratejisi 4 segment gerektirir. K-Means tek başına yeterli segmentasyon üretemiyor.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88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749040" y="16459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&amp; Yorum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749040" y="2487168"/>
            <a:ext cx="5212080" cy="457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49040" y="2606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Segmentasyon · Gini · Bootstrap · K-Means · Duyarlılık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- 6 Aylık CLTV Dağılımı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06 · Şekil B1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224528"/>
            <a:ext cx="202996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74320" y="425196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TL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470001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CLTV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50592" y="4224528"/>
            <a:ext cx="202996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50592" y="425196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TL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450592" y="470001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Medyan CLTV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26864" y="4224528"/>
            <a:ext cx="202996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26864" y="425196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626864" y="470001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A/B/C/D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803136" y="4224528"/>
            <a:ext cx="202996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03136" y="4251960"/>
            <a:ext cx="20299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Sağa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803136" y="470001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Çarpık Dağılım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732520" y="4224528"/>
            <a:ext cx="91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A'nın CLTV dağılımı belirgin biçimde sağa uzanmaktadır. Ortalama (34 TL) medyanı (28 TL) aşan bu fark, üst değerli müşterilerin etkisini yansıtır.</a:t>
            </a:r>
            <a:endParaRPr lang="en-US" sz="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Heatmap &amp; Müşteri/Gelir Payı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06 · Şekil D1 &amp; B5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663440" cy="306324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914400"/>
            <a:ext cx="3749040" cy="3063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4041648"/>
            <a:ext cx="4663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84048" y="4096512"/>
            <a:ext cx="44622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D1 - Segment Performans Heatmap'i. Segment A: ort. 64 TL CLTV, 7 sipariş, 215 TL harcama. Yeşil = ortalamanın üstünde, Kırmızı = altında. Z-score renk kodlaması tüm segmentleri karşılaştırılabilir kılar.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74920" y="4041648"/>
            <a:ext cx="3749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5184648" y="4096512"/>
            <a:ext cx="3547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B5 - Müşteri payı eşitken gelir payı büyük farklılık gösteriyor. Segment A: %25 müşteri → %47.4 gelir. Segment D: %25 müşteri → %9.9 gelir. Bu asimetri A segmentine stratejik yatırımı meşrulaştırır.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Gini, Lorenz Eğrisi &amp; Desil Analizi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06 · Şekil B2, B3, B4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2743200" cy="263347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914400"/>
            <a:ext cx="2788920" cy="2633472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914400"/>
            <a:ext cx="2788920" cy="263347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74320" y="3639312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365760" y="36850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 Eğrisi (B2)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65760" y="40233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= 0.334 → Orta düzey yoğunlaşma. CLTV dağılımı tam eşitlikten uzak ama aşırı yoğunlaşmış da değil. Eğri altındaki alan Gini'yi görsel olarak teyit eder.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3154680" y="3639312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3246120" y="36850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Desil Katkı Analizi (B3)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246120" y="4023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değerli %10 müşteri toplam gelirin %25.3'ünü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taşıyor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beklenen %10'un 2.5 katı. Pareto etkisi doğrulandı; üst desillere yönelik odak ROI açısından verimlidir.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035040" y="3639312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6126480" y="368503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Kümülatif CLTV (B4)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126480" y="40233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gelirin %80'ine ulaşmak için en değerli %60 müşteri yeterli. Bu bulgu geniş tabanlı bir segmentasyon stratejisinin gerekliliğine işaret eder.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Karşılaştırma Analizi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06 · Şekil E3 &amp; E4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160520" cy="24688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14400"/>
            <a:ext cx="4251960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493008"/>
            <a:ext cx="4160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84048" y="3547872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E3 - Optimal K Seçimi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84048" y="3886200"/>
            <a:ext cx="39502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yöntemi keskin bir dirsek vermedi. Silhouette skoru k=2 için 0.474 ile maksimum. K-Means iki ana küme önerdi: yüksek değerli (Küme 0, n=5.001) ve düşük değerli (Küme 1, n=14.944) müşteriler.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0" y="3493008"/>
            <a:ext cx="4251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681728" y="3547872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E4 - K-Means vs Quantile Karşılaştırması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681728" y="3886200"/>
            <a:ext cx="40416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 A'nın %85.7'si Küme 0'da, Seg C ve D'nin %99+'ı Küme 1'de. K-Means, BG/NBD quantile segmentasyonunun değer sıralamasını bağımsız olarak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doğruluyor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her iki yöntem tutarlı sonuçlar üretiyor.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Analizi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Recency &amp; Kanal Dağılımı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06 · Şekil D4 &amp; D5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343400" cy="27432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914400"/>
            <a:ext cx="4160520" cy="27432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749040"/>
            <a:ext cx="4343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84048" y="3803904"/>
            <a:ext cx="4133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D4 - Recency vs Beklenen Satın Alım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84048" y="4133088"/>
            <a:ext cx="413308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arttıkça beklenen satın alım azalıyor. Segment A (yeşil) yüksek tahmin kümesinde yoğunlaşıyor. 1-2 yıl recency penceresinde tüm segmentler bir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arada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bu aralık kritik müşteri davranış geçiş dönemidir.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754880" y="3749040"/>
            <a:ext cx="4160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64608" y="3803904"/>
            <a:ext cx="3950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Şekil D5 - Segment × Son Sipariş Kanalı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64608" y="4133088"/>
            <a:ext cx="39502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A'da Android App %41 ile baskın, Offline %27. Segment D'de Offline %44'e </a:t>
            </a:r>
            <a:r>
              <a:rPr lang="en-US" sz="9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çıkıyor</a:t>
            </a: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düşük değerli segmentler fiziksel kanalı daha sık kullanıyor. Dijital kanal kullanımı CLTV ile pozitif ilişkili.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88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749040" y="16459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&amp; Değerlendirme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749040" y="2487168"/>
            <a:ext cx="5212080" cy="457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49040" y="2606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 · Öğrenilenler · Gelecek Öneriler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&amp;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Değerlendirme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Nereye Vardık?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618488"/>
            <a:ext cx="850392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" y="987552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Sorusu: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987552"/>
            <a:ext cx="6675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FLO'nun her müşterisinin önümüzdeki 6 ayda işletmeye kazandıracağı tahmini değer nedir ve bu değere göre müşteriler nasıl stratejik gruplara ayrılabilir?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773936"/>
            <a:ext cx="4224528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1773936"/>
            <a:ext cx="4224528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773936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Ulaştığımız Yer - Cevaplar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24942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müşterinin değeri?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19.945 müşterinin tamamına bireysel CLTV tahmini üretildi. Ort. 34 TL, medyan 28 TL/6 ay.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87121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Stratejik gruplama?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 (A–D): Segment A %25 müşteri iken toplam gelirin %47.4'ünü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taşıyor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karar verilebilir, anlamlı segment.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49300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güvenilir mi?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12464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bağımsız doğruladı. Bootstrap CI dar. Duyarlılık analizi %1/ay senaryosunu teyit etti.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önemli bulgu?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3425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Gini=0.334: değer eşitsizliği var ama aşırı yoğunlaşmış </a:t>
            </a:r>
            <a:r>
              <a:rPr lang="en-US" sz="9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değil</a:t>
            </a: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tüm segmentlere farklı yoğunlukta yatırım yapılabilir.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81728" y="1773936"/>
            <a:ext cx="4133088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81728" y="1773936"/>
            <a:ext cx="4133088" cy="4114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18888" y="1773936"/>
            <a:ext cx="3858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Öğrendiklerimiz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73168" y="2258568"/>
            <a:ext cx="54864" cy="25603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01184" y="2240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yapısı model seçimini belirler: agregat veri BG/NBD'nin churn tahmin gücünü kısıtladı.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73168" y="2606040"/>
            <a:ext cx="54864" cy="25603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01184" y="2587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seçimi probleme göre yapılır: sınıflandırma metrikleri regresyon problemine uygulanamaz.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73168" y="2953512"/>
            <a:ext cx="54864" cy="25603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01184" y="293522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model yetmez: K-Means + quantile birlikte daha güçlü içgörü üretiyor.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3346704"/>
            <a:ext cx="414223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81728" y="3346704"/>
            <a:ext cx="4133088" cy="41148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18888" y="3346704"/>
            <a:ext cx="3858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Öneriler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773168" y="3822192"/>
            <a:ext cx="201168" cy="20116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73168" y="382219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29200" y="381304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 düzeyi veri ile gerçek BG/NBD + holdout doğrulama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73168" y="4169664"/>
            <a:ext cx="201168" cy="20116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73168" y="416966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029200" y="40690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RFM'ye demografi ve kategori özelliklerinin eklenmesi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73168" y="4471416"/>
            <a:ext cx="201168" cy="20116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0056" y="441655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 öğrenme tabanlı CLTV modelleri ile karşılaştırma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73168" y="4745736"/>
            <a:ext cx="201168" cy="201168"/>
          </a:xfrm>
          <a:prstGeom prst="ellipse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73168" y="48646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65776" y="467258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zamanlı segment güncelleme pipeline'ı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88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3749040" y="164592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 Özeti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749040" y="2487168"/>
            <a:ext cx="5212080" cy="457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49040" y="2606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Makaleler · Önceki Çalışmalar · Referanslar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Literatür Özeti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863840" y="16459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318846"/>
            <a:ext cx="41605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18846"/>
            <a:ext cx="566928" cy="9509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318846"/>
            <a:ext cx="56692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8408" y="1346278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Schmittlein, Morrison &amp; Colombo - Pareto/NBD Modeli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78408" y="1684606"/>
            <a:ext cx="3364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NBD ile satın alım süreci, Pareto ile churn sürecini modelleyen ilk olasılıksal CLTV yaklaşımı. BG/NBD'nin öncülü.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318846"/>
            <a:ext cx="41605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318846"/>
            <a:ext cx="566928" cy="950976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318846"/>
            <a:ext cx="56692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13248" y="1346278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Fader, Hardie &amp; Lee - BG/NBD Modeli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13248" y="1684606"/>
            <a:ext cx="3364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"Counting Your Customers" the Easy Way. Marketing Science 24(2), 275–284. Pareto/NBD'ye daha hesaplı ve uygulanabilir alternatif.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379550"/>
            <a:ext cx="41605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379550"/>
            <a:ext cx="566928" cy="95097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379550"/>
            <a:ext cx="56692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78408" y="2406982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Fader &amp; Hardie - Gamma-Gamma Modeli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78408" y="2745310"/>
            <a:ext cx="3364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SSRN Working Paper. Ortalama işlem değerini modelleyen Gamma-Gamma yaklaşımı; BG/NBD ile birleşerek CLTV hesaplar.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379550"/>
            <a:ext cx="41605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2379550"/>
            <a:ext cx="566928" cy="950976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2379550"/>
            <a:ext cx="56692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13248" y="2406982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Kotler &amp; Keller - Pazarlama Yönetimi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13248" y="2745310"/>
            <a:ext cx="33649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CLTV'nin stratejik önemi: müşteri edinimi vs elde tutma maliyeti karşılaştırması; müşteri bazlı kaynak tahsisi.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91740" y="3440254"/>
            <a:ext cx="41605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491740" y="3440254"/>
            <a:ext cx="566928" cy="950976"/>
          </a:xfrm>
          <a:prstGeom prst="rect">
            <a:avLst/>
          </a:prstGeom>
          <a:solidFill>
            <a:srgbClr val="006E6E"/>
          </a:solidFill>
          <a:ln w="12700">
            <a:solidFill>
              <a:srgbClr val="00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91740" y="3440254"/>
            <a:ext cx="566928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50108" y="3467686"/>
            <a:ext cx="3364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 &amp; Lehmann - CLV Analizi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150108" y="3806014"/>
            <a:ext cx="3364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değerinin firma değerine katkısı; "managing customers as investments" çerçevesi; desil analizinin kurumsal temeli.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" y="48097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çalışma, Fader &amp; Hardie (2005, 2013) metodolojisini Python lifetimes kütüphanesi ile uygulayarak FLO perakende verisine uyarlamaktadır.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79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FF9A45"/>
          </a:solidFill>
          <a:ln w="12700">
            <a:solidFill>
              <a:srgbClr val="FF9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3200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79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Kaynakça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80467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Fader, P.S., Hardie, B.G.S., &amp; Lee, K.L. (2005). Counting your customers the easy way. Marketing Science, 24(2), 275-284.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Fader, P.S., &amp; Hardie, B.G.S. (2013). The Gamma-Gamma Model of Monetary Value. SSRN Working Paper.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2121408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Schmittlein, D.C., Morrison, D.G., &amp; Colombo, R. (1987). Counting Your Customers. Management Science, 33(1).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" y="2779776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Gupta, S., &amp; Lehmann, D.R. (2000). Customers as Assets. Journal of Interactive Marketing.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3438144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FLO Customer Dataset. kaggle.com/datasets/merveozdemir/flocustomerdataset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77240" y="4096512"/>
            <a:ext cx="3703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Python lifetimes library. BetaGeoFitter, GammaGammaFitter.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</a:t>
            </a:r>
            <a:endParaRPr lang="en-US" sz="4600" dirty="0"/>
          </a:p>
        </p:txBody>
      </p:sp>
      <p:sp>
        <p:nvSpPr>
          <p:cNvPr id="13" name="Shape 11"/>
          <p:cNvSpPr/>
          <p:nvPr/>
        </p:nvSpPr>
        <p:spPr>
          <a:xfrm>
            <a:off x="5394960" y="2194560"/>
            <a:ext cx="2834640" cy="45720"/>
          </a:xfrm>
          <a:prstGeom prst="rect">
            <a:avLst/>
          </a:prstGeom>
          <a:solidFill>
            <a:srgbClr val="F47920"/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30428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Sorularınız için hazırım.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1920240" cy="749808"/>
          </a:xfrm>
          <a:prstGeom prst="rect">
            <a:avLst/>
          </a:prstGeom>
          <a:solidFill>
            <a:schemeClr val="bg1">
              <a:alpha val="15000"/>
            </a:schemeClr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0600" y="28529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19.945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00600" y="33101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76872" y="2834640"/>
            <a:ext cx="1920240" cy="749808"/>
          </a:xfrm>
          <a:prstGeom prst="rect">
            <a:avLst/>
          </a:prstGeom>
          <a:solidFill>
            <a:schemeClr val="bg1">
              <a:alpha val="15000"/>
            </a:schemeClr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76872" y="28529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76872" y="33101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3749040"/>
            <a:ext cx="1920240" cy="749808"/>
          </a:xfrm>
          <a:prstGeom prst="rect">
            <a:avLst/>
          </a:prstGeom>
          <a:solidFill>
            <a:schemeClr val="bg1">
              <a:alpha val="15000"/>
            </a:schemeClr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37673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00600" y="42245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76872" y="3749040"/>
            <a:ext cx="1920240" cy="749808"/>
          </a:xfrm>
          <a:prstGeom prst="rect">
            <a:avLst/>
          </a:prstGeom>
          <a:solidFill>
            <a:schemeClr val="bg1">
              <a:alpha val="15000"/>
            </a:schemeClr>
          </a:solidFill>
          <a:ln w="12700">
            <a:solidFill>
              <a:srgbClr val="F479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76872" y="37673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76872" y="422452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E06A10"/>
          </a:solidFill>
          <a:ln w="12700">
            <a:solidFill>
              <a:srgbClr val="E06A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480974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Dersi Veren: Ali Hakan Büyüklü   ·   Yıldız Teknik Üniversitesi   ·   Veri Madenciliğine Giriş (2025–2026)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1449</TotalTime>
  <Words>3525</Words>
  <Application>Microsoft Office PowerPoint</Application>
  <PresentationFormat>Ekran Gösterisi (16:9)</PresentationFormat>
  <Paragraphs>470</Paragraphs>
  <Slides>30</Slides>
  <Notes>30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CLTV Tahmini — FLO Perakende Veri Seti</dc:title>
  <dc:subject>PptxGenJS Presentation</dc:subject>
  <dc:creator>PptxGenJS</dc:creator>
  <cp:lastModifiedBy>SÜMEYYE ELİF KOÇ</cp:lastModifiedBy>
  <cp:revision>6</cp:revision>
  <dcterms:created xsi:type="dcterms:W3CDTF">2026-05-31T18:14:14Z</dcterms:created>
  <dcterms:modified xsi:type="dcterms:W3CDTF">2026-10-09T13:30:26Z</dcterms:modified>
</cp:coreProperties>
</file>